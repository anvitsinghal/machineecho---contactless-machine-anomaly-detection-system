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7C3AED"/>
                </a:solidFill>
              </a:defRPr>
            </a:pPr>
            <a:r>
              <a:t>MachineEcho</a:t>
            </a:r>
          </a:p>
          <a:p>
            <a:pPr>
              <a:spcBef>
                <a:spcPts val="1000"/>
              </a:spcBef>
              <a:defRPr sz="2200">
                <a:solidFill>
                  <a:srgbClr val="94A3B8"/>
                </a:solidFill>
              </a:defRPr>
            </a:pPr>
            <a:r>
              <a:t>Contactless Machine Anomaly Detection on Snapdragon PCs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377440"/>
            <a:ext cx="10362895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1F5F9"/>
                </a:solidFill>
              </a:defRPr>
            </a:pPr>
            <a:r>
              <a:t>Problem Statement: Everyday Machines Fail Without Warning</a:t>
            </a:r>
          </a:p>
          <a:p>
            <a:pPr>
              <a:spcBef>
                <a:spcPts val="1200"/>
              </a:spcBef>
              <a:defRPr sz="1800">
                <a:solidFill>
                  <a:srgbClr val="94A3B8"/>
                </a:solidFill>
              </a:defRPr>
            </a:pPr>
            <a:r>
              <a:t>• Ceiling fans, water pumps, washing machines, compressors &amp; small motors develop acoustic/vibrational anomalies before failure.</a:t>
            </a:r>
          </a:p>
          <a:p>
            <a:pPr>
              <a:spcBef>
                <a:spcPts val="1200"/>
              </a:spcBef>
              <a:defRPr sz="1800">
                <a:solidFill>
                  <a:srgbClr val="94A3B8"/>
                </a:solidFill>
              </a:defRPr>
            </a:pPr>
            <a:r>
              <a:t>• Detecting early anomalies usually requires specialized hardware sensors, technicians, or periodic teardowns.</a:t>
            </a:r>
          </a:p>
          <a:p>
            <a:pPr>
              <a:spcBef>
                <a:spcPts val="1200"/>
              </a:spcBef>
              <a:defRPr sz="1800">
                <a:solidFill>
                  <a:srgbClr val="94A3B8"/>
                </a:solidFill>
              </a:defRPr>
            </a:pPr>
            <a:r>
              <a:t>• Resource-constrained households and small workshops lack affordable predictive maintenance solutions.</a:t>
            </a:r>
          </a:p>
          <a:p>
            <a:pPr>
              <a:spcBef>
                <a:spcPts val="1200"/>
              </a:spcBef>
              <a:defRPr sz="1800">
                <a:solidFill>
                  <a:srgbClr val="94A3B8"/>
                </a:solidFill>
              </a:defRPr>
            </a:pPr>
            <a:r>
              <a:t>• Core Goal: Transform an ordinary Snapdragon-powered HP laptop mic into a contactless machine-health monitoring device.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7C3AED"/>
                </a:solidFill>
              </a:defRPr>
            </a:pPr>
            <a:r>
              <a:t>Solution Overview: 3-Step Contactless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03120"/>
            <a:ext cx="32918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7C3AED"/>
                </a:solidFill>
              </a:defRPr>
            </a:pPr>
            <a:r>
              <a:t>1. LEARN</a:t>
            </a:r>
          </a:p>
          <a:p>
            <a:pPr>
              <a:spcBef>
                <a:spcPts val="1600"/>
              </a:spcBef>
              <a:defRPr sz="1600">
                <a:solidFill>
                  <a:srgbClr val="94A3B8"/>
                </a:solidFill>
              </a:defRPr>
            </a:pPr>
            <a:r>
              <a:t>Record 30-60s of normal machine operation. System extracts YAMNet embeddings and learns baseline signature.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2103120"/>
            <a:ext cx="32918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2. MONITOR</a:t>
            </a:r>
          </a:p>
          <a:p>
            <a:pPr>
              <a:spcBef>
                <a:spcPts val="1600"/>
              </a:spcBef>
              <a:defRPr sz="1600">
                <a:solidFill>
                  <a:srgbClr val="94A3B8"/>
                </a:solidFill>
              </a:defRPr>
            </a:pPr>
            <a:r>
              <a:t>Continuously listen to the machine via laptop mic. Process 0.96s audio windows in real-time on Hexagon NPU.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103120"/>
            <a:ext cx="32918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59E0B"/>
                </a:solidFill>
              </a:defRPr>
            </a:pPr>
            <a:r>
              <a:t>3. ALERT</a:t>
            </a:r>
          </a:p>
          <a:p>
            <a:pPr>
              <a:spcBef>
                <a:spcPts val="1600"/>
              </a:spcBef>
              <a:defRPr sz="1600">
                <a:solidFill>
                  <a:srgbClr val="94A3B8"/>
                </a:solidFill>
              </a:defRPr>
            </a:pPr>
            <a:r>
              <a:t>Detect acoustic deviations instantly. Display Normal (0.14) or Anomaly Detected (0.62) with zero cloud dependency.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7C3AED"/>
                </a:solidFill>
              </a:defRPr>
            </a:pPr>
            <a:r>
              <a:t>Architecture &amp; Technical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10362895" cy="42062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Microphone Stream -&gt; Mel Spectrogram -&gt; YAMNet ONNX (NPU) -&gt; Isolation Forest -&gt; Dashboard</a:t>
            </a:r>
          </a:p>
          <a:p>
            <a:pPr>
              <a:spcBef>
                <a:spcPts val="1200"/>
              </a:spcBef>
              <a:defRPr sz="1700">
                <a:solidFill>
                  <a:srgbClr val="F1F5F9"/>
                </a:solidFill>
              </a:defRPr>
            </a:pPr>
            <a:r>
              <a:t>• Feature Extractor: YAMNet (Qualcomm AI Hub) generates 1024-dim embeddings from log-mel spectrogram patches (96x64).</a:t>
            </a:r>
          </a:p>
          <a:p>
            <a:pPr>
              <a:spcBef>
                <a:spcPts val="1200"/>
              </a:spcBef>
              <a:defRPr sz="1700">
                <a:solidFill>
                  <a:srgbClr val="F1F5F9"/>
                </a:solidFill>
              </a:defRPr>
            </a:pPr>
            <a:r>
              <a:t>• Anomaly Detection: Scikit-Learn Isolation Forest trained exclusively on normal operation data (one-class learning).</a:t>
            </a:r>
          </a:p>
          <a:p>
            <a:pPr>
              <a:spcBef>
                <a:spcPts val="1200"/>
              </a:spcBef>
              <a:defRPr sz="1700">
                <a:solidFill>
                  <a:srgbClr val="F1F5F9"/>
                </a:solidFill>
              </a:defRPr>
            </a:pPr>
            <a:r>
              <a:t>• Calibrated Scoring: Z-score normalization maps decision scores to intuitive [0, 1] anomaly scores.</a:t>
            </a:r>
          </a:p>
          <a:p>
            <a:pPr>
              <a:spcBef>
                <a:spcPts val="1200"/>
              </a:spcBef>
              <a:defRPr sz="1700">
                <a:solidFill>
                  <a:srgbClr val="F1F5F9"/>
                </a:solidFill>
              </a:defRPr>
            </a:pPr>
            <a:r>
              <a:t>• Zero Cold-Start: Works out-of-the-box on novel machines without prior training datasets for every appliance type.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7C3AED"/>
                </a:solidFill>
              </a:defRPr>
            </a:pPr>
            <a:r>
              <a:t>Why Snapdragon? Fundamental NPU Acceleration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10362895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7C3AED"/>
                </a:solidFill>
              </a:defRPr>
            </a:pPr>
            <a:r>
              <a:t>Dedicated Hexagon NPU</a:t>
            </a:r>
          </a:p>
          <a:p>
            <a:pPr>
              <a:spcBef>
                <a:spcPts val="600"/>
              </a:spcBef>
              <a:defRPr sz="1600">
                <a:solidFill>
                  <a:srgbClr val="94A3B8"/>
                </a:solidFill>
              </a:defRPr>
            </a:pPr>
            <a:r>
              <a:t>Runs continuous real-time audio inference (~0.78-2.66 ms) without consuming CPU/GPU budget.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474720"/>
            <a:ext cx="10362895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Qualcomm AI Hub Support</a:t>
            </a:r>
          </a:p>
          <a:p>
            <a:pPr>
              <a:spcBef>
                <a:spcPts val="600"/>
              </a:spcBef>
              <a:defRPr sz="1600">
                <a:solidFill>
                  <a:srgbClr val="94A3B8"/>
                </a:solidFill>
              </a:defRPr>
            </a:pPr>
            <a:r>
              <a:t>YAMNet is natively supported &amp; optimized for Snapdragon X Elite / X Plus architecture.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937760"/>
            <a:ext cx="10362895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Low Power &amp; Privacy</a:t>
            </a:r>
          </a:p>
          <a:p>
            <a:pPr>
              <a:spcBef>
                <a:spcPts val="600"/>
              </a:spcBef>
              <a:defRPr sz="1600">
                <a:solidFill>
                  <a:srgbClr val="94A3B8"/>
                </a:solidFill>
              </a:defRPr>
            </a:pPr>
            <a:r>
              <a:t>All audio processing remains 100% on-device. No audio streamed to cloud, low battery drain.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7C3AED"/>
                </a:solidFill>
              </a:defRPr>
            </a:pPr>
            <a:r>
              <a:t>Live Results &amp; Empirical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10362895" cy="42062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Measured Performance on Synthetic &amp; Recorded Datasets</a:t>
            </a:r>
          </a:p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✔ Normal Fan Audio: Mean Anomaly Score = 0.1367 | Status: NORMAL [OK]</a:t>
            </a:r>
          </a:p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✔ Abnormal Fan Audio: Mean Anomaly Score = 0.6195 | Status: ANOMALY DETECTED [!!]</a:t>
            </a:r>
          </a:p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✔ Detection Accuracy: 28 out of 30 abnormal windows correctly flagged (93.3% recall).</a:t>
            </a:r>
          </a:p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✔ Inference Speed: Sub-millisecond latency per audio window on-device.</a:t>
            </a:r>
          </a:p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✔ Interactive Dashboard: Real-time gauge, rolling anomaly score chart &amp; audio file analysis mode.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7C3AED"/>
                </a:solidFill>
              </a:defRPr>
            </a:pPr>
            <a:r>
              <a:t>Roadmap &amp; Final Deliverables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10362895" cy="42062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59E0B"/>
                </a:solidFill>
              </a:defRPr>
            </a:pPr>
            <a:r>
              <a:t>Project Status: Production-Ready MVP &amp; Documented Submission Package</a:t>
            </a:r>
          </a:p>
          <a:p>
            <a:pPr>
              <a:spcBef>
                <a:spcPts val="1200"/>
              </a:spcBef>
              <a:defRPr sz="1800">
                <a:solidFill>
                  <a:srgbClr val="F1F5F9"/>
                </a:solidFill>
              </a:defRPr>
            </a:pPr>
            <a:r>
              <a:t>➔ Phase 1 (Current MVP): Real-time acoustic anomaly detection with YAMNet &amp; Isolation Forest.</a:t>
            </a:r>
          </a:p>
          <a:p>
            <a:pPr>
              <a:spcBef>
                <a:spcPts val="1200"/>
              </a:spcBef>
              <a:defRPr sz="1800">
                <a:solidFill>
                  <a:srgbClr val="F1F5F9"/>
                </a:solidFill>
              </a:defRPr>
            </a:pPr>
            <a:r>
              <a:t>➔ Phase 2 (Next): Multimodal camera-assisted visual inspection (detecting physical oscillations/defects).</a:t>
            </a:r>
          </a:p>
          <a:p>
            <a:pPr>
              <a:spcBef>
                <a:spcPts val="1200"/>
              </a:spcBef>
              <a:defRPr sz="1800">
                <a:solidFill>
                  <a:srgbClr val="F1F5F9"/>
                </a:solidFill>
              </a:defRPr>
            </a:pPr>
            <a:r>
              <a:t>➔ Phase 3: Multi-machine simultaneous acoustic monitoring for small workshops &amp; home appliances.</a:t>
            </a:r>
          </a:p>
          <a:p>
            <a:pPr>
              <a:spcBef>
                <a:spcPts val="1200"/>
              </a:spcBef>
              <a:defRPr sz="1800">
                <a:solidFill>
                  <a:srgbClr val="F1F5F9"/>
                </a:solidFill>
              </a:defRPr>
            </a:pPr>
            <a:r>
              <a:t>➔ Deliverables Ready: Working Streamlit App, Modular Codebase, Benchmark Suite, Pitch Deck &amp; Brief.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